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0FA9B-741F-474E-A806-089A0DD74798}" v="73" dt="2026-09-29T18:41:05.5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ja Santha" userId="4479fe7a0350f311" providerId="LiveId" clId="{6FAB5FBE-8EE8-4A1D-BB57-FE66DCADFA35}"/>
    <pc:docChg chg="modSld">
      <pc:chgData name="Thanuja Santha" userId="4479fe7a0350f311" providerId="LiveId" clId="{6FAB5FBE-8EE8-4A1D-BB57-FE66DCADFA35}" dt="2026-09-30T05:00:02.809" v="5" actId="1076"/>
      <pc:docMkLst>
        <pc:docMk/>
      </pc:docMkLst>
      <pc:sldChg chg="modSp mod">
        <pc:chgData name="Thanuja Santha" userId="4479fe7a0350f311" providerId="LiveId" clId="{6FAB5FBE-8EE8-4A1D-BB57-FE66DCADFA35}" dt="2026-09-30T05:00:02.809" v="5" actId="1076"/>
        <pc:sldMkLst>
          <pc:docMk/>
          <pc:sldMk cId="2695631776" sldId="256"/>
        </pc:sldMkLst>
        <pc:spChg chg="mod">
          <ac:chgData name="Thanuja Santha" userId="4479fe7a0350f311" providerId="LiveId" clId="{6FAB5FBE-8EE8-4A1D-BB57-FE66DCADFA35}" dt="2026-09-30T05:00:02.809" v="5" actId="1076"/>
          <ac:spMkLst>
            <pc:docMk/>
            <pc:sldMk cId="2695631776" sldId="256"/>
            <ac:spMk id="4" creationId="{2D46EB80-F81A-FF89-BCBF-C10EADFA9726}"/>
          </ac:spMkLst>
        </pc:spChg>
        <pc:graphicFrameChg chg="modGraphic">
          <ac:chgData name="Thanuja Santha" userId="4479fe7a0350f311" providerId="LiveId" clId="{6FAB5FBE-8EE8-4A1D-BB57-FE66DCADFA35}" dt="2026-09-30T04:39:44.074" v="0" actId="20577"/>
          <ac:graphicFrameMkLst>
            <pc:docMk/>
            <pc:sldMk cId="2695631776" sldId="256"/>
            <ac:graphicFrameMk id="10" creationId="{8F4D8164-409A-796D-8FBB-A0C6E5DCDDDB}"/>
          </ac:graphicFrameMkLst>
        </pc:graphicFrameChg>
      </pc:sldChg>
      <pc:sldChg chg="modSp mod">
        <pc:chgData name="Thanuja Santha" userId="4479fe7a0350f311" providerId="LiveId" clId="{6FAB5FBE-8EE8-4A1D-BB57-FE66DCADFA35}" dt="2026-09-30T04:59:48.428" v="4" actId="20577"/>
        <pc:sldMkLst>
          <pc:docMk/>
          <pc:sldMk cId="135015179" sldId="257"/>
        </pc:sldMkLst>
        <pc:spChg chg="mod">
          <ac:chgData name="Thanuja Santha" userId="4479fe7a0350f311" providerId="LiveId" clId="{6FAB5FBE-8EE8-4A1D-BB57-FE66DCADFA35}" dt="2026-09-30T04:59:48.428" v="4" actId="20577"/>
          <ac:spMkLst>
            <pc:docMk/>
            <pc:sldMk cId="135015179" sldId="257"/>
            <ac:spMk id="6" creationId="{85B899A7-7B25-A2B4-01BD-1CA1848E3D21}"/>
          </ac:spMkLst>
        </pc:spChg>
      </pc:sldChg>
      <pc:sldChg chg="modSp mod">
        <pc:chgData name="Thanuja Santha" userId="4479fe7a0350f311" providerId="LiveId" clId="{6FAB5FBE-8EE8-4A1D-BB57-FE66DCADFA35}" dt="2026-09-30T04:43:40.094" v="1" actId="20577"/>
        <pc:sldMkLst>
          <pc:docMk/>
          <pc:sldMk cId="775950178" sldId="261"/>
        </pc:sldMkLst>
        <pc:spChg chg="mod">
          <ac:chgData name="Thanuja Santha" userId="4479fe7a0350f311" providerId="LiveId" clId="{6FAB5FBE-8EE8-4A1D-BB57-FE66DCADFA35}" dt="2026-09-30T04:43:40.094" v="1" actId="20577"/>
          <ac:spMkLst>
            <pc:docMk/>
            <pc:sldMk cId="775950178" sldId="261"/>
            <ac:spMk id="4" creationId="{72831664-F147-9F29-4B7E-A63E577D70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DF1E-3CC9-67D3-73C8-4AA8BC3D3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0F104-A3A2-7F2C-BCC9-BD055BEDF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BC20-26B8-8341-B529-7C24460E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1474-3D8D-0DED-6E38-BA10D1B2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E7CB-1095-1DAD-11CE-B702F6C9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0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0AE3-CDC8-7BA8-676C-FA8937BF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F1F46-C64E-526B-D097-FCCACD9EC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4E356-BB2D-604F-F67F-5F772C44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6218-4D72-8AC5-0899-8E8C8EA1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F570-D296-D95E-9B82-430859FA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35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5BF5-401C-A67E-0CD0-D7687E42C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0FCE9-8AE8-4AD1-70AC-44C142370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9C5C-B677-3F5B-B176-790968D8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99BD-3E83-91B4-3E8F-E1BE8624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6C283-F49F-1F8C-2787-F42DE0AD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1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F222-D687-2DC5-8386-042AD489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5A39-1551-B572-4ADB-04A61C49C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ADBCC-8483-464F-65D1-2EE9E697D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CCB6B-EDAA-29DC-5643-000741F8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3D6B6-B597-155A-AE16-013043B1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AAF07-82EB-43B1-DEE3-0686627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84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02EB-F0E3-9071-6944-56682192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878ED-758E-4678-0CAC-83F71112A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8AD7C-7CE1-7F09-3291-39A49C1A9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3C0B8-1811-E4F5-F78F-92A3F4FC9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B7D14-A259-7341-1F01-2985C9A94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D8FC9-34DB-7573-F5CF-CEEADEB4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46E44-E2B6-581B-F6EB-429C0C8E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29084-1684-64F2-9ED7-93B9F1B7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2715-C053-8C04-2736-4B7F3749C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6D456-C82D-B942-141C-A34C640C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0EEFD-D454-376C-3F91-771C6AA7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2D29C-72B6-89D6-6CAA-F7C4A975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5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2D611-D6C9-4225-3EE8-9443E042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3233C-AC06-D26F-5349-C00E5615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57D2D-0951-4085-6B80-82B9FABC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9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A0B5-A688-692C-9E86-4CDF478C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0F84-5ADC-6DF4-1648-224235947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9E4D9-13FA-64FF-2FE5-9AD8952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EF554-4B1D-0B1B-A685-9F592F71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0C984-6E25-1237-22A7-7178C3C4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958E3-EAED-7C6D-B073-5249EA77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8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44EC-DBB9-786D-191B-8FC5F0F8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4B11F-A3E7-ADDE-5494-B1153BE99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D3825-3ECD-6D14-41EF-DA03F5438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F0D5A-AF85-CD27-A442-97A74C6E2D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4CDEF-0714-4C0B-7242-567AD685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5F851-029F-F92B-F1F6-6B75999A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56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B4C3-674D-8A53-8343-4D719BE0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20C22-4857-2B56-AA08-5FB058FFE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796EE-1FD3-C7FB-5653-17FB8C29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7E732-54D5-0B66-CEB0-855201DA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03187-AC09-5B21-6C06-7F92DD41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3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89816-6741-9EBC-5385-5C1964A9A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8ED32-F097-199E-6D9F-402AF9298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AAD91-0C0C-CC28-FEE6-1ECE22DB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0879B0-BB85-4649-8867-6C8AF0758DB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F86BA-946F-581B-2DC5-301A6703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AECD8-70A2-BCC7-B39B-CE0FDB22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76D234-6658-45AC-A249-019888C1A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6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UNIVERSITY&#10;&#10;AI-generated content may be incorrect.">
            <a:extLst>
              <a:ext uri="{FF2B5EF4-FFF2-40B4-BE49-F238E27FC236}">
                <a16:creationId xmlns:a16="http://schemas.microsoft.com/office/drawing/2014/main" id="{B210790B-5B4A-6A5F-3DA0-3B179FABE27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9425" cy="1019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1B88B6-7D82-5D37-C616-0542DA5667EB}"/>
              </a:ext>
            </a:extLst>
          </p:cNvPr>
          <p:cNvSpPr txBox="1"/>
          <p:nvPr userDrawn="1"/>
        </p:nvSpPr>
        <p:spPr>
          <a:xfrm>
            <a:off x="11264116" y="6396110"/>
            <a:ext cx="840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~Stratify</a:t>
            </a:r>
            <a:endParaRPr lang="en-IN" sz="1200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3" name="Picture 12" descr="The image depicts a magnifying glass icon with a focus on a line graph, symbolizing an analytical or investigative focus on data.&#10;&#10;AI-generated content may be incorrect.">
            <a:extLst>
              <a:ext uri="{FF2B5EF4-FFF2-40B4-BE49-F238E27FC236}">
                <a16:creationId xmlns:a16="http://schemas.microsoft.com/office/drawing/2014/main" id="{BB867857-71FF-5EB7-4882-5233B342715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5411" y="114258"/>
            <a:ext cx="659000" cy="65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5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360A81-70AB-C1C6-40F6-E824F85C5D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DITYA UNIVERSITY logo featuring an abstract symbol.&#10;&#10;AI-generated content may be incorrect.">
            <a:extLst>
              <a:ext uri="{FF2B5EF4-FFF2-40B4-BE49-F238E27FC236}">
                <a16:creationId xmlns:a16="http://schemas.microsoft.com/office/drawing/2014/main" id="{9B98A58F-D326-6543-6E50-B08FE21C4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767" y="0"/>
            <a:ext cx="5050465" cy="9715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C38DBF-202A-C13A-D3AA-A987B637D9CD}"/>
              </a:ext>
            </a:extLst>
          </p:cNvPr>
          <p:cNvSpPr txBox="1"/>
          <p:nvPr/>
        </p:nvSpPr>
        <p:spPr>
          <a:xfrm>
            <a:off x="2105984" y="1775638"/>
            <a:ext cx="8061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masis MT Pro Black" panose="02040A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TITLE: </a:t>
            </a:r>
            <a:r>
              <a:rPr lang="en-US" sz="2200">
                <a:solidFill>
                  <a:schemeClr val="tx2"/>
                </a:solidFill>
                <a:latin typeface="Amasis MT Pro Black" panose="02040A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LOAN PREDICTION DATA ANALYSIS</a:t>
            </a:r>
            <a:endParaRPr lang="en-IN" sz="2200">
              <a:solidFill>
                <a:schemeClr val="tx2"/>
              </a:solidFill>
              <a:latin typeface="Amasis MT Pro Black" panose="02040A04050005020304" pitchFamily="18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0EDCB-6563-9932-4F23-F34785F866D8}"/>
              </a:ext>
            </a:extLst>
          </p:cNvPr>
          <p:cNvSpPr txBox="1"/>
          <p:nvPr/>
        </p:nvSpPr>
        <p:spPr>
          <a:xfrm>
            <a:off x="3897479" y="1071211"/>
            <a:ext cx="4461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  <a:latin typeface="Abadi" panose="020B0604020104020204" pitchFamily="34" charset="0"/>
              </a:rPr>
              <a:t>CORNERSTONE PROJECT – REVIEW 2</a:t>
            </a:r>
            <a:endParaRPr lang="en-IN" sz="2000" b="1" dirty="0">
              <a:solidFill>
                <a:schemeClr val="accent3"/>
              </a:solidFill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F5DD5-44B8-6747-58AA-F2959486FFD3}"/>
              </a:ext>
            </a:extLst>
          </p:cNvPr>
          <p:cNvSpPr txBox="1"/>
          <p:nvPr/>
        </p:nvSpPr>
        <p:spPr>
          <a:xfrm>
            <a:off x="3963009" y="2541620"/>
            <a:ext cx="426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Amasis MT Pro Black" panose="02040A04050005020304" pitchFamily="18" charset="0"/>
              </a:rPr>
              <a:t>COURSE: </a:t>
            </a:r>
            <a:r>
              <a:rPr lang="en-US" b="1">
                <a:solidFill>
                  <a:schemeClr val="accent1"/>
                </a:solidFill>
                <a:latin typeface="Abadi" panose="020B0604020104020204" pitchFamily="34" charset="0"/>
              </a:rPr>
              <a:t>DATA ANALYSIS ESSENTIALS</a:t>
            </a:r>
            <a:endParaRPr lang="en-IN" b="1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6EB80-F81A-FF89-BCBF-C10EADFA9726}"/>
              </a:ext>
            </a:extLst>
          </p:cNvPr>
          <p:cNvSpPr txBox="1"/>
          <p:nvPr/>
        </p:nvSpPr>
        <p:spPr>
          <a:xfrm>
            <a:off x="4173954" y="3015029"/>
            <a:ext cx="3925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Department of Computer Science Engineering</a:t>
            </a:r>
            <a:endParaRPr lang="en-IN" sz="1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79DA7-3556-74CF-E9AC-49B96FB2A074}"/>
              </a:ext>
            </a:extLst>
          </p:cNvPr>
          <p:cNvSpPr txBox="1"/>
          <p:nvPr/>
        </p:nvSpPr>
        <p:spPr>
          <a:xfrm>
            <a:off x="4486940" y="45135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4D8164-409A-796D-8FBB-A0C6E5DCD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97750"/>
              </p:ext>
            </p:extLst>
          </p:nvPr>
        </p:nvGraphicFramePr>
        <p:xfrm>
          <a:off x="2319368" y="4015678"/>
          <a:ext cx="7553255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7184">
                  <a:extLst>
                    <a:ext uri="{9D8B030D-6E8A-4147-A177-3AD203B41FA5}">
                      <a16:colId xmlns:a16="http://schemas.microsoft.com/office/drawing/2014/main" val="27083986"/>
                    </a:ext>
                  </a:extLst>
                </a:gridCol>
                <a:gridCol w="2856071">
                  <a:extLst>
                    <a:ext uri="{9D8B030D-6E8A-4147-A177-3AD203B41FA5}">
                      <a16:colId xmlns:a16="http://schemas.microsoft.com/office/drawing/2014/main" val="187253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T</a:t>
                      </a: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EAM</a:t>
                      </a:r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 M</a:t>
                      </a: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EMBERS</a:t>
                      </a:r>
                      <a:endParaRPr lang="en-IN" sz="16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R</a:t>
                      </a:r>
                      <a:r>
                        <a:rPr lang="en-US" sz="1600" b="1">
                          <a:solidFill>
                            <a:schemeClr val="accent1"/>
                          </a:solidFill>
                        </a:rPr>
                        <a:t>OLL</a:t>
                      </a:r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 N</a:t>
                      </a:r>
                      <a:r>
                        <a:rPr lang="en-US" sz="1600" b="1">
                          <a:solidFill>
                            <a:schemeClr val="accent1"/>
                          </a:solidFill>
                        </a:rPr>
                        <a:t>UMBERS</a:t>
                      </a:r>
                      <a:endParaRPr lang="en-IN" sz="1600" b="1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469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936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1. RAMOJU SURYA VENKATA SAI PRAKASH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25B11CS809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001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2. SANTHA THANUJA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25B11CS855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00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3. SALADI VEERA SAI ANUSHA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25B11CS839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3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4. NIMISHA MAITY</a:t>
                      </a:r>
                      <a:endParaRPr lang="en-IN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25B11CS677</a:t>
                      </a:r>
                      <a:endParaRPr lang="en-IN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9636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631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89C241-F4BC-CC58-AABF-F374561364F0}"/>
              </a:ext>
            </a:extLst>
          </p:cNvPr>
          <p:cNvSpPr txBox="1"/>
          <p:nvPr/>
        </p:nvSpPr>
        <p:spPr>
          <a:xfrm>
            <a:off x="4170248" y="281763"/>
            <a:ext cx="385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latin typeface="Amasis MT Pro Black" panose="02040A04050005020304" pitchFamily="18" charset="0"/>
              </a:rPr>
              <a:t>PROBLEM STATEMENT</a:t>
            </a:r>
            <a:endParaRPr lang="en-IN" sz="2400" b="1">
              <a:solidFill>
                <a:schemeClr val="tx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35A86-AD45-0512-B934-C051D40FA619}"/>
              </a:ext>
            </a:extLst>
          </p:cNvPr>
          <p:cNvSpPr txBox="1"/>
          <p:nvPr/>
        </p:nvSpPr>
        <p:spPr>
          <a:xfrm>
            <a:off x="1052623" y="956930"/>
            <a:ext cx="86767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Banks receive a large number of </a:t>
            </a:r>
            <a:r>
              <a:rPr lang="en-IN" b="1"/>
              <a:t>loan applications</a:t>
            </a:r>
            <a:r>
              <a:rPr lang="en-IN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Evaluating applications manually can be </a:t>
            </a:r>
            <a:r>
              <a:rPr lang="en-IN" b="1"/>
              <a:t>time-consuming</a:t>
            </a:r>
            <a:r>
              <a:rPr lang="en-IN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Loan approval depends on several factors such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/>
              <a:t>Income</a:t>
            </a:r>
            <a:r>
              <a:rPr lang="en-IN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/>
              <a:t>CIBIL Score</a:t>
            </a:r>
            <a:r>
              <a:rPr lang="en-IN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/>
              <a:t>Loan Amount</a:t>
            </a:r>
            <a:r>
              <a:rPr lang="en-IN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/>
              <a:t>Loan Term</a:t>
            </a:r>
            <a:r>
              <a:rPr lang="en-IN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/>
              <a:t>Assets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Our project analyzes these factors to identify their relationship with </a:t>
            </a:r>
            <a:r>
              <a:rPr lang="en-IN" b="1"/>
              <a:t>loan approval</a:t>
            </a:r>
            <a:r>
              <a:rPr lang="en-IN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The system performs </a:t>
            </a:r>
            <a:r>
              <a:rPr lang="en-IN" b="1"/>
              <a:t>basic loan prediction</a:t>
            </a:r>
            <a:r>
              <a:rPr lang="en-IN"/>
              <a:t> using the analyzed data.</a:t>
            </a:r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899A7-7B25-A2B4-01BD-1CA1848E3D21}"/>
              </a:ext>
            </a:extLst>
          </p:cNvPr>
          <p:cNvSpPr txBox="1"/>
          <p:nvPr/>
        </p:nvSpPr>
        <p:spPr>
          <a:xfrm>
            <a:off x="1052623" y="4096251"/>
            <a:ext cx="390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is this Project Important ?</a:t>
            </a:r>
            <a:endParaRPr lang="en-IN" sz="2000" b="1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211DD-4049-95D0-304A-5143187B3DE7}"/>
              </a:ext>
            </a:extLst>
          </p:cNvPr>
          <p:cNvSpPr txBox="1"/>
          <p:nvPr/>
        </p:nvSpPr>
        <p:spPr>
          <a:xfrm>
            <a:off x="1052623" y="4742121"/>
            <a:ext cx="85120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Helps </a:t>
            </a:r>
            <a:r>
              <a:rPr lang="en-IN" b="1"/>
              <a:t>identify important factors associated</a:t>
            </a:r>
            <a:r>
              <a:rPr lang="en-IN"/>
              <a:t> with loan approval.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Makes large loan datasets </a:t>
            </a:r>
            <a:r>
              <a:rPr lang="en-IN" b="1"/>
              <a:t>easier to analyze</a:t>
            </a:r>
            <a:r>
              <a:rPr lang="en-IN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Supports data-driven decision-making</a:t>
            </a:r>
            <a:r>
              <a:rPr lang="en-IN"/>
              <a:t> in the banking domain.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Provides a </a:t>
            </a:r>
            <a:r>
              <a:rPr lang="en-IN" b="1"/>
              <a:t>foundation for developing more advanced loan prediction systems.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1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49242-5C3B-54F3-44D4-5F242A349F56}"/>
              </a:ext>
            </a:extLst>
          </p:cNvPr>
          <p:cNvSpPr txBox="1"/>
          <p:nvPr/>
        </p:nvSpPr>
        <p:spPr>
          <a:xfrm>
            <a:off x="4162618" y="313660"/>
            <a:ext cx="3866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Amasis MT Pro Black" panose="02040A04050005020304" pitchFamily="18" charset="0"/>
              </a:rPr>
              <a:t>PROBLEM OBJECTIVES</a:t>
            </a:r>
            <a:endParaRPr lang="en-IN" sz="2400" b="1"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90C19-EB14-0852-9590-0FBB7474A96B}"/>
              </a:ext>
            </a:extLst>
          </p:cNvPr>
          <p:cNvSpPr txBox="1"/>
          <p:nvPr/>
        </p:nvSpPr>
        <p:spPr>
          <a:xfrm>
            <a:off x="1190847" y="940982"/>
            <a:ext cx="1903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1"/>
                </a:solidFill>
                <a:latin typeface="Abadi" panose="020B0604020104020204" pitchFamily="34" charset="0"/>
              </a:rPr>
              <a:t>Main Objective</a:t>
            </a:r>
            <a:endParaRPr lang="en-IN" sz="2000" b="1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21F32-7DF1-707E-452C-7AF99E51CD40}"/>
              </a:ext>
            </a:extLst>
          </p:cNvPr>
          <p:cNvSpPr txBox="1"/>
          <p:nvPr/>
        </p:nvSpPr>
        <p:spPr>
          <a:xfrm>
            <a:off x="1190847" y="1442422"/>
            <a:ext cx="5922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To analyze loan applicant data &amp; identify the key factors influencing </a:t>
            </a:r>
            <a:r>
              <a:rPr lang="en-IN" b="1"/>
              <a:t>loan approval</a:t>
            </a:r>
            <a:r>
              <a:rPr lang="en-IN"/>
              <a:t> using data analysis techniques.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472D4-4E47-82A7-D586-08B0E4E91E48}"/>
              </a:ext>
            </a:extLst>
          </p:cNvPr>
          <p:cNvSpPr txBox="1"/>
          <p:nvPr/>
        </p:nvSpPr>
        <p:spPr>
          <a:xfrm>
            <a:off x="1190847" y="2298585"/>
            <a:ext cx="2335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3"/>
                </a:solidFill>
                <a:latin typeface="Abadi" panose="020B0604020104020204" pitchFamily="34" charset="0"/>
              </a:rPr>
              <a:t>Specific Objectives</a:t>
            </a:r>
            <a:endParaRPr lang="en-IN" sz="2000" b="1">
              <a:solidFill>
                <a:schemeClr val="accent3"/>
              </a:solidFill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6E726-D911-298A-A34A-AC42C4E58BB4}"/>
              </a:ext>
            </a:extLst>
          </p:cNvPr>
          <p:cNvSpPr txBox="1"/>
          <p:nvPr/>
        </p:nvSpPr>
        <p:spPr>
          <a:xfrm>
            <a:off x="1190847" y="2908528"/>
            <a:ext cx="54185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Analyze and understand the loan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Clean and preprocess the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Identify important factors affecting loan approval.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Perform </a:t>
            </a:r>
            <a:r>
              <a:rPr lang="en-IN" b="1"/>
              <a:t>Exploratory Data Analysis (EDA)</a:t>
            </a:r>
            <a:r>
              <a:rPr lang="en-IN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Visualize patterns and relationships in the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Perform a </a:t>
            </a:r>
            <a:r>
              <a:rPr lang="en-IN" b="1"/>
              <a:t>basic loan approval prediction</a:t>
            </a:r>
            <a:r>
              <a:rPr lang="en-IN"/>
              <a:t>.</a:t>
            </a:r>
          </a:p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1C886-0550-E0C6-EFB6-775439AB2494}"/>
              </a:ext>
            </a:extLst>
          </p:cNvPr>
          <p:cNvSpPr txBox="1"/>
          <p:nvPr/>
        </p:nvSpPr>
        <p:spPr>
          <a:xfrm>
            <a:off x="1190847" y="5062755"/>
            <a:ext cx="1128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Domain</a:t>
            </a:r>
            <a:endParaRPr lang="en-IN" sz="2000" b="1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9B500-1D9D-9ACE-1EE6-B11363CDA110}"/>
              </a:ext>
            </a:extLst>
          </p:cNvPr>
          <p:cNvSpPr txBox="1"/>
          <p:nvPr/>
        </p:nvSpPr>
        <p:spPr>
          <a:xfrm>
            <a:off x="1190847" y="5585767"/>
            <a:ext cx="4272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Banking &amp; Financial Data Analysis</a:t>
            </a:r>
            <a:endParaRPr lang="en-IN" sz="2000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2" name="Picture 11" descr="The image illustrates a flowchart outlining the steps for data analysis in a banking finance data analytics project, starting with understanding the dataset, preparing it, discovering patterns, visualizing results, and predicting loan approval.&#10;&#10;AI-generated content may be incorrect.">
            <a:extLst>
              <a:ext uri="{FF2B5EF4-FFF2-40B4-BE49-F238E27FC236}">
                <a16:creationId xmlns:a16="http://schemas.microsoft.com/office/drawing/2014/main" id="{69E8B452-28A8-37E4-1952-984EFB145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217" y="1141037"/>
            <a:ext cx="5318937" cy="48643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820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BAFEFB-29FF-0F9A-E955-2FB93FCB935B}"/>
              </a:ext>
            </a:extLst>
          </p:cNvPr>
          <p:cNvSpPr txBox="1"/>
          <p:nvPr/>
        </p:nvSpPr>
        <p:spPr>
          <a:xfrm>
            <a:off x="3464510" y="250345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latin typeface="Amasis MT Pro Black" panose="02040A04050005020304" pitchFamily="18" charset="0"/>
              </a:rPr>
              <a:t>Data Selection &amp; Data Collection</a:t>
            </a:r>
            <a:endParaRPr lang="en-IN" sz="2400" b="1">
              <a:solidFill>
                <a:schemeClr val="tx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2EE4B-ACEE-B7A7-675C-3462E83CF63A}"/>
              </a:ext>
            </a:extLst>
          </p:cNvPr>
          <p:cNvSpPr txBox="1"/>
          <p:nvPr/>
        </p:nvSpPr>
        <p:spPr>
          <a:xfrm>
            <a:off x="528804" y="819338"/>
            <a:ext cx="587141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Data Selection</a:t>
            </a:r>
          </a:p>
          <a:p>
            <a:r>
              <a:rPr lang="en-IN" b="1" dirty="0">
                <a:solidFill>
                  <a:srgbClr val="0070C0"/>
                </a:solidFill>
              </a:rPr>
              <a:t>Dataset</a:t>
            </a:r>
            <a:r>
              <a:rPr lang="en-IN" b="1" dirty="0"/>
              <a:t>:</a:t>
            </a:r>
            <a:r>
              <a:rPr lang="en-IN" dirty="0"/>
              <a:t> Loan Approval Prediction Dataset</a:t>
            </a:r>
          </a:p>
          <a:p>
            <a:r>
              <a:rPr lang="en-IN" b="1" dirty="0">
                <a:solidFill>
                  <a:srgbClr val="0070C0"/>
                </a:solidFill>
              </a:rPr>
              <a:t>Source</a:t>
            </a:r>
            <a:r>
              <a:rPr lang="en-IN" b="1" dirty="0"/>
              <a:t>:</a:t>
            </a:r>
            <a:r>
              <a:rPr lang="en-IN" dirty="0"/>
              <a:t> Kaggle</a:t>
            </a:r>
          </a:p>
          <a:p>
            <a:r>
              <a:rPr lang="en-IN" b="1" dirty="0">
                <a:solidFill>
                  <a:srgbClr val="0070C0"/>
                </a:solidFill>
              </a:rPr>
              <a:t>Format</a:t>
            </a:r>
            <a:r>
              <a:rPr lang="en-IN" b="1" dirty="0"/>
              <a:t>:</a:t>
            </a:r>
            <a:r>
              <a:rPr lang="en-IN" dirty="0"/>
              <a:t> CSV</a:t>
            </a:r>
          </a:p>
          <a:p>
            <a:r>
              <a:rPr lang="en-IN" b="1" dirty="0">
                <a:solidFill>
                  <a:srgbClr val="0070C0"/>
                </a:solidFill>
              </a:rPr>
              <a:t>Records</a:t>
            </a:r>
            <a:r>
              <a:rPr lang="en-IN" b="1" dirty="0"/>
              <a:t>:</a:t>
            </a:r>
            <a:r>
              <a:rPr lang="en-IN" dirty="0"/>
              <a:t> 614</a:t>
            </a:r>
          </a:p>
          <a:p>
            <a:r>
              <a:rPr lang="en-IN" b="1" dirty="0">
                <a:solidFill>
                  <a:srgbClr val="0070C0"/>
                </a:solidFill>
              </a:rPr>
              <a:t>Attributes</a:t>
            </a:r>
            <a:r>
              <a:rPr lang="en-IN" b="1" dirty="0"/>
              <a:t>:</a:t>
            </a:r>
            <a:r>
              <a:rPr lang="en-IN" dirty="0"/>
              <a:t> 13</a:t>
            </a:r>
          </a:p>
          <a:p>
            <a:r>
              <a:rPr lang="en-IN" b="1" dirty="0">
                <a:solidFill>
                  <a:srgbClr val="0070C0"/>
                </a:solidFill>
              </a:rPr>
              <a:t>Target Variable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/>
              <a:t>Loan_Status</a:t>
            </a:r>
            <a:endParaRPr lang="en-IN" dirty="0"/>
          </a:p>
          <a:p>
            <a:r>
              <a:rPr lang="en-IN" b="1" dirty="0">
                <a:solidFill>
                  <a:srgbClr val="002060"/>
                </a:solidFill>
              </a:rPr>
              <a:t>Why this dataset was selected?</a:t>
            </a:r>
          </a:p>
          <a:p>
            <a:pPr lvl="0"/>
            <a:r>
              <a:rPr lang="en-IN" dirty="0"/>
              <a:t>Contains both numerical and categorical attributes.</a:t>
            </a:r>
          </a:p>
          <a:p>
            <a:pPr lvl="0"/>
            <a:r>
              <a:rPr lang="en-IN" dirty="0"/>
              <a:t>Includes applicant and loan-related information.</a:t>
            </a:r>
          </a:p>
          <a:p>
            <a:pPr lvl="0"/>
            <a:r>
              <a:rPr lang="en-IN" dirty="0"/>
              <a:t>Contains missing values suitable for data-cleaning analysis.</a:t>
            </a:r>
          </a:p>
          <a:p>
            <a:pPr lvl="0"/>
            <a:r>
              <a:rPr lang="en-IN" dirty="0"/>
              <a:t>Provides a binary loan approval target.</a:t>
            </a:r>
          </a:p>
          <a:p>
            <a:pPr lvl="0"/>
            <a:r>
              <a:rPr lang="en-IN" dirty="0"/>
              <a:t>Suitable for EDA, visualization and basic prediction.</a:t>
            </a:r>
          </a:p>
          <a:p>
            <a:r>
              <a:rPr lang="en-IN" b="1" dirty="0">
                <a:solidFill>
                  <a:srgbClr val="002060"/>
                </a:solidFill>
              </a:rPr>
              <a:t>Data Collection</a:t>
            </a:r>
          </a:p>
          <a:p>
            <a:pPr lvl="0"/>
            <a:r>
              <a:rPr lang="en-IN" dirty="0"/>
              <a:t>The dataset was obtained in CSV format.</a:t>
            </a:r>
          </a:p>
          <a:p>
            <a:pPr lvl="0"/>
            <a:r>
              <a:rPr lang="en-IN" dirty="0"/>
              <a:t>It was imported into the Python environment using Pandas.</a:t>
            </a:r>
          </a:p>
          <a:p>
            <a:pPr lvl="0"/>
            <a:r>
              <a:rPr lang="en-IN" dirty="0"/>
              <a:t>The dataset was stored locally as loan.csv.</a:t>
            </a:r>
          </a:p>
          <a:p>
            <a:r>
              <a:rPr lang="en-IN" b="1" dirty="0">
                <a:solidFill>
                  <a:srgbClr val="002060"/>
                </a:solidFill>
              </a:rPr>
              <a:t>Code used: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("loan.csv")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57A20F-8431-28EC-CF6A-DA2A93420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41" y="819338"/>
            <a:ext cx="5638255" cy="56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5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DB074F-CD7C-EDA2-35CF-A18EF4C2A948}"/>
              </a:ext>
            </a:extLst>
          </p:cNvPr>
          <p:cNvSpPr txBox="1"/>
          <p:nvPr/>
        </p:nvSpPr>
        <p:spPr>
          <a:xfrm>
            <a:off x="4568177" y="260498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latin typeface="Amasis MT Pro Black" panose="02040A04050005020304" pitchFamily="18" charset="0"/>
              </a:rPr>
              <a:t>Dataset Attributes</a:t>
            </a:r>
            <a:endParaRPr lang="en-IN" sz="2400" b="1">
              <a:solidFill>
                <a:schemeClr val="tx2"/>
              </a:solidFill>
              <a:latin typeface="Amasis MT Pro Black" panose="02040A04050005020304" pitchFamily="18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D34B412-50DB-3A59-D47F-43B192352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730547"/>
              </p:ext>
            </p:extLst>
          </p:nvPr>
        </p:nvGraphicFramePr>
        <p:xfrm>
          <a:off x="1263232" y="942096"/>
          <a:ext cx="9665534" cy="4973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2767">
                  <a:extLst>
                    <a:ext uri="{9D8B030D-6E8A-4147-A177-3AD203B41FA5}">
                      <a16:colId xmlns:a16="http://schemas.microsoft.com/office/drawing/2014/main" val="3413031608"/>
                    </a:ext>
                  </a:extLst>
                </a:gridCol>
                <a:gridCol w="4832767">
                  <a:extLst>
                    <a:ext uri="{9D8B030D-6E8A-4147-A177-3AD203B41FA5}">
                      <a16:colId xmlns:a16="http://schemas.microsoft.com/office/drawing/2014/main" val="4198939984"/>
                    </a:ext>
                  </a:extLst>
                </a:gridCol>
              </a:tblGrid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rgbClr val="0070C0"/>
                          </a:solidFill>
                        </a:rPr>
                        <a:t>Attribute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65425000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Loan_ID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 loan application identifier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183310842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Gender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Applicant gender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89908907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Married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Marital status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667247669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Dependents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Number of dependents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843283016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Education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Education status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97702142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Self_Employed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Employment status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62763992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ApplicantIncome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Applicant income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0965571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CoapplicantIncome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Co-applicant income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94607999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LoanAmount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Requested loan amount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310153692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Loan_Amount_Term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 repayment term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88343898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Credit_History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Credit history indicator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08104045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Property_Area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Property location category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33515657"/>
                  </a:ext>
                </a:extLst>
              </a:tr>
              <a:tr h="35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Loan_Status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Loan approval status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6106982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450BC48-31E0-C7E1-68C9-227C6D4C3283}"/>
              </a:ext>
            </a:extLst>
          </p:cNvPr>
          <p:cNvSpPr txBox="1"/>
          <p:nvPr/>
        </p:nvSpPr>
        <p:spPr>
          <a:xfrm>
            <a:off x="1263232" y="6135837"/>
            <a:ext cx="6593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2060"/>
                </a:solidFill>
              </a:rPr>
              <a:t>Target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>
                <a:latin typeface="+mn-lt"/>
              </a:rPr>
              <a:t>Loan_Status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07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831664-F147-9F29-4B7E-A63E577D70E6}"/>
              </a:ext>
            </a:extLst>
          </p:cNvPr>
          <p:cNvSpPr txBox="1"/>
          <p:nvPr/>
        </p:nvSpPr>
        <p:spPr>
          <a:xfrm>
            <a:off x="3678511" y="292396"/>
            <a:ext cx="4976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masis MT Pro Black" panose="02040A04050005020304" pitchFamily="18" charset="0"/>
              </a:rPr>
              <a:t>Data Cleaning &amp; Preprocessing</a:t>
            </a:r>
            <a:endParaRPr lang="en-IN" sz="2400" b="1" dirty="0">
              <a:solidFill>
                <a:schemeClr val="tx2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D9B9AA-32C7-84B6-258F-3928C5A89240}"/>
              </a:ext>
            </a:extLst>
          </p:cNvPr>
          <p:cNvSpPr txBox="1"/>
          <p:nvPr/>
        </p:nvSpPr>
        <p:spPr>
          <a:xfrm>
            <a:off x="983848" y="3192733"/>
            <a:ext cx="9641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badi" panose="020B0604020104020204" pitchFamily="34" charset="0"/>
            </a:endParaRPr>
          </a:p>
          <a:p>
            <a:r>
              <a:rPr lang="en-IN" b="1" dirty="0">
                <a:solidFill>
                  <a:srgbClr val="00B050"/>
                </a:solidFill>
                <a:latin typeface="Abadi" panose="020B0604020104020204" pitchFamily="34" charset="0"/>
              </a:rPr>
              <a:t>Numerical variables</a:t>
            </a:r>
            <a:endParaRPr lang="en-IN" dirty="0">
              <a:solidFill>
                <a:srgbClr val="00B050"/>
              </a:solidFill>
              <a:latin typeface="Abadi" panose="020B0604020104020204" pitchFamily="34" charset="0"/>
            </a:endParaRPr>
          </a:p>
          <a:p>
            <a:pPr lvl="0"/>
            <a:r>
              <a:rPr lang="en-IN" dirty="0"/>
              <a:t>-</a:t>
            </a:r>
            <a:r>
              <a:rPr lang="en-IN" dirty="0" err="1"/>
              <a:t>LoanAmount</a:t>
            </a:r>
            <a:r>
              <a:rPr lang="en-IN" dirty="0"/>
              <a:t> → Median</a:t>
            </a:r>
          </a:p>
          <a:p>
            <a:pPr lvl="0"/>
            <a:r>
              <a:rPr lang="en-IN" dirty="0"/>
              <a:t>-</a:t>
            </a:r>
            <a:r>
              <a:rPr lang="en-IN" dirty="0" err="1"/>
              <a:t>Loan_Amount_Term</a:t>
            </a:r>
            <a:r>
              <a:rPr lang="en-IN" dirty="0"/>
              <a:t> → Median</a:t>
            </a:r>
          </a:p>
          <a:p>
            <a:pPr lvl="0"/>
            <a:r>
              <a:rPr lang="en-IN" dirty="0"/>
              <a:t>-</a:t>
            </a:r>
            <a:r>
              <a:rPr lang="en-IN" dirty="0" err="1"/>
              <a:t>Credit_History</a:t>
            </a:r>
            <a:r>
              <a:rPr lang="en-IN" dirty="0"/>
              <a:t> → Median</a:t>
            </a:r>
          </a:p>
          <a:p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77F18-496F-E536-8CD3-F592FFE96A66}"/>
              </a:ext>
            </a:extLst>
          </p:cNvPr>
          <p:cNvSpPr txBox="1"/>
          <p:nvPr/>
        </p:nvSpPr>
        <p:spPr>
          <a:xfrm>
            <a:off x="983848" y="829386"/>
            <a:ext cx="1696397" cy="65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Data Cleaning</a:t>
            </a:r>
          </a:p>
          <a:p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B6EDF-5F18-B2B1-E6D7-54A4194699B8}"/>
              </a:ext>
            </a:extLst>
          </p:cNvPr>
          <p:cNvSpPr txBox="1"/>
          <p:nvPr/>
        </p:nvSpPr>
        <p:spPr>
          <a:xfrm>
            <a:off x="983848" y="1158338"/>
            <a:ext cx="680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Abadi" panose="020B0604020104020204" pitchFamily="34" charset="0"/>
              </a:rPr>
              <a:t>The dataset was checked for missing values and duplicate records.</a:t>
            </a:r>
            <a:endParaRPr lang="en-IN" i="1" dirty="0">
              <a:latin typeface="Abadi" panose="020B06040201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4D480-B4D7-ED51-BEA4-0764070B9795}"/>
              </a:ext>
            </a:extLst>
          </p:cNvPr>
          <p:cNvSpPr txBox="1"/>
          <p:nvPr/>
        </p:nvSpPr>
        <p:spPr>
          <a:xfrm>
            <a:off x="988579" y="1568402"/>
            <a:ext cx="3870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Missing values were handled using: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IN" b="1" i="1" dirty="0">
                <a:solidFill>
                  <a:srgbClr val="00B050"/>
                </a:solidFill>
                <a:latin typeface="Abadi" panose="020B0604020104020204" pitchFamily="34" charset="0"/>
              </a:rPr>
              <a:t>Categorical variables</a:t>
            </a:r>
            <a:endParaRPr lang="en-IN" i="1" dirty="0">
              <a:solidFill>
                <a:srgbClr val="00B050"/>
              </a:solidFill>
              <a:latin typeface="Abadi" panose="020B0604020104020204" pitchFamily="34" charset="0"/>
            </a:endParaRPr>
          </a:p>
          <a:p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1A854-6452-94BD-3949-CBA0923014E0}"/>
              </a:ext>
            </a:extLst>
          </p:cNvPr>
          <p:cNvSpPr txBox="1"/>
          <p:nvPr/>
        </p:nvSpPr>
        <p:spPr>
          <a:xfrm>
            <a:off x="983848" y="2228671"/>
            <a:ext cx="28560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800" dirty="0"/>
              <a:t>-Gender → Mode</a:t>
            </a:r>
          </a:p>
          <a:p>
            <a:pPr lvl="0"/>
            <a:r>
              <a:rPr lang="en-IN" sz="1800" dirty="0"/>
              <a:t>-Married → Mode</a:t>
            </a:r>
          </a:p>
          <a:p>
            <a:pPr lvl="0"/>
            <a:r>
              <a:rPr lang="en-IN" sz="1800" dirty="0"/>
              <a:t>-Dependents → Mode</a:t>
            </a:r>
          </a:p>
          <a:p>
            <a:pPr lvl="0"/>
            <a:r>
              <a:rPr lang="en-IN" sz="1800" dirty="0"/>
              <a:t>-</a:t>
            </a:r>
            <a:r>
              <a:rPr lang="en-IN" sz="1800" dirty="0" err="1"/>
              <a:t>Self_Employed</a:t>
            </a:r>
            <a:r>
              <a:rPr lang="en-IN" sz="1800" dirty="0"/>
              <a:t> → Mode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83513-FB61-8A52-1EC9-735068A10DD1}"/>
              </a:ext>
            </a:extLst>
          </p:cNvPr>
          <p:cNvSpPr txBox="1"/>
          <p:nvPr/>
        </p:nvSpPr>
        <p:spPr>
          <a:xfrm>
            <a:off x="983848" y="4811278"/>
            <a:ext cx="97806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Abadi" panose="020B0604020104020204" pitchFamily="34" charset="0"/>
              </a:rPr>
              <a:t>Other Cleaning Steps</a:t>
            </a:r>
          </a:p>
          <a:p>
            <a:pPr lvl="0"/>
            <a:r>
              <a:rPr lang="en-IN" sz="1800" dirty="0"/>
              <a:t>-Duplicate records were checked.</a:t>
            </a:r>
          </a:p>
          <a:p>
            <a:pPr lvl="0"/>
            <a:r>
              <a:rPr lang="en-IN" sz="1800" dirty="0"/>
              <a:t>-3+ in Dependents was converted into numerical form.</a:t>
            </a:r>
          </a:p>
          <a:p>
            <a:pPr lvl="0"/>
            <a:r>
              <a:rPr lang="en-IN" sz="1800" dirty="0"/>
              <a:t>-Remaining missing values were verified after cleaning.</a:t>
            </a:r>
          </a:p>
          <a:p>
            <a:pPr lvl="0"/>
            <a:r>
              <a:rPr lang="en-IN" sz="1800" dirty="0"/>
              <a:t>-Data types were examined before further processing.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2E93F-C509-E097-376B-DF088E75D38C}"/>
              </a:ext>
            </a:extLst>
          </p:cNvPr>
          <p:cNvSpPr txBox="1"/>
          <p:nvPr/>
        </p:nvSpPr>
        <p:spPr>
          <a:xfrm>
            <a:off x="983848" y="6389226"/>
            <a:ext cx="5672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Abadi" panose="020B0604020104020204" pitchFamily="34" charset="0"/>
              </a:rPr>
              <a:t>Result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i="1" dirty="0">
                <a:latin typeface="Amasis MT Pro Medium" panose="02040604050005020304" pitchFamily="18" charset="0"/>
              </a:rPr>
              <a:t>The dataset was cleaned and prepared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95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550DA8-EAE7-A43A-F0B2-2B7819035966}"/>
              </a:ext>
            </a:extLst>
          </p:cNvPr>
          <p:cNvSpPr txBox="1"/>
          <p:nvPr/>
        </p:nvSpPr>
        <p:spPr>
          <a:xfrm>
            <a:off x="4120427" y="157255"/>
            <a:ext cx="395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masis MT Pro Black" panose="02040A04050005020304" pitchFamily="18" charset="0"/>
              </a:rPr>
              <a:t>PROCESSING THE DATA</a:t>
            </a:r>
            <a:endParaRPr lang="en-IN" sz="2400" b="1" dirty="0"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A645C-C185-C9F4-259B-DCF189C05203}"/>
              </a:ext>
            </a:extLst>
          </p:cNvPr>
          <p:cNvSpPr txBox="1"/>
          <p:nvPr/>
        </p:nvSpPr>
        <p:spPr>
          <a:xfrm>
            <a:off x="1073888" y="738112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IMPORT DATASET</a:t>
            </a:r>
            <a:endParaRPr lang="en-IN" b="1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0C122B-3E11-E766-6DA0-31F178C079BB}"/>
              </a:ext>
            </a:extLst>
          </p:cNvPr>
          <p:cNvSpPr txBox="1"/>
          <p:nvPr/>
        </p:nvSpPr>
        <p:spPr>
          <a:xfrm>
            <a:off x="5186135" y="738112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MISSING DATA</a:t>
            </a:r>
            <a:endParaRPr lang="en-IN" b="1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002A8E-2325-ADCC-B46A-B6067D35E71B}"/>
              </a:ext>
            </a:extLst>
          </p:cNvPr>
          <p:cNvSpPr txBox="1"/>
          <p:nvPr/>
        </p:nvSpPr>
        <p:spPr>
          <a:xfrm>
            <a:off x="9544453" y="738112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DUM DATA</a:t>
            </a:r>
            <a:endParaRPr lang="en-IN" b="1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9F869-9A5C-7C46-2B98-AAC6D4941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78" y="1612191"/>
            <a:ext cx="3520745" cy="1234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870CFC-121E-0DBE-0183-792251A9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073" y="1490554"/>
            <a:ext cx="2895851" cy="4074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7F664-7327-1D03-C113-745721D3E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374" y="1432124"/>
            <a:ext cx="3734124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9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DDDB83-1EE0-A8BC-E67C-87F21A9D96C8}"/>
              </a:ext>
            </a:extLst>
          </p:cNvPr>
          <p:cNvSpPr txBox="1"/>
          <p:nvPr/>
        </p:nvSpPr>
        <p:spPr>
          <a:xfrm>
            <a:off x="4132368" y="213995"/>
            <a:ext cx="5349240" cy="118935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Project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08074-5456-2B81-37DE-0F12AFF87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934" y="1027906"/>
            <a:ext cx="7488132" cy="56160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500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7566-4BDB-B14D-585A-C0496139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349" y="89822"/>
            <a:ext cx="3733800" cy="522389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Dataset exploration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C79FE-3C30-C140-2649-91157F1A8418}"/>
              </a:ext>
            </a:extLst>
          </p:cNvPr>
          <p:cNvSpPr txBox="1"/>
          <p:nvPr/>
        </p:nvSpPr>
        <p:spPr>
          <a:xfrm>
            <a:off x="460624" y="981543"/>
            <a:ext cx="75118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Initial Dataset Understanding</a:t>
            </a:r>
          </a:p>
          <a:p>
            <a:r>
              <a:rPr lang="en-IN" dirty="0"/>
              <a:t>The dataset was initially explored to understand its structure and contents.</a:t>
            </a:r>
          </a:p>
          <a:p>
            <a:r>
              <a:rPr lang="en-IN" b="1" dirty="0">
                <a:solidFill>
                  <a:srgbClr val="0070C0"/>
                </a:solidFill>
              </a:rPr>
              <a:t>Exploration Methods</a:t>
            </a:r>
          </a:p>
          <a:p>
            <a:pPr lvl="0"/>
            <a:r>
              <a:rPr lang="en-IN" dirty="0" err="1"/>
              <a:t>df.head</a:t>
            </a:r>
            <a:r>
              <a:rPr lang="en-IN" dirty="0"/>
              <a:t>() → View the first records</a:t>
            </a:r>
          </a:p>
          <a:p>
            <a:pPr lvl="0"/>
            <a:r>
              <a:rPr lang="en-IN" dirty="0" err="1"/>
              <a:t>df.shape</a:t>
            </a:r>
            <a:r>
              <a:rPr lang="en-IN" dirty="0"/>
              <a:t> → Identify number of rows and columns</a:t>
            </a:r>
          </a:p>
          <a:p>
            <a:pPr lvl="0"/>
            <a:r>
              <a:rPr lang="en-IN" dirty="0" err="1"/>
              <a:t>df.columns</a:t>
            </a:r>
            <a:r>
              <a:rPr lang="en-IN" dirty="0"/>
              <a:t> → View attribute names</a:t>
            </a:r>
          </a:p>
          <a:p>
            <a:pPr lvl="0"/>
            <a:r>
              <a:rPr lang="en-IN" dirty="0"/>
              <a:t>df.info() → Examine data types and non-null values</a:t>
            </a:r>
          </a:p>
          <a:p>
            <a:pPr lvl="0"/>
            <a:r>
              <a:rPr lang="en-IN" dirty="0" err="1"/>
              <a:t>df.describe</a:t>
            </a:r>
            <a:r>
              <a:rPr lang="en-IN" dirty="0"/>
              <a:t>() → Obtain statistical summary</a:t>
            </a:r>
          </a:p>
          <a:p>
            <a:r>
              <a:rPr lang="en-IN" b="1" dirty="0">
                <a:solidFill>
                  <a:srgbClr val="0070C0"/>
                </a:solidFill>
              </a:rPr>
              <a:t>Dataset Overview</a:t>
            </a:r>
          </a:p>
          <a:p>
            <a:pPr lvl="0"/>
            <a:r>
              <a:rPr lang="en-IN" b="1" dirty="0"/>
              <a:t>614 records</a:t>
            </a:r>
            <a:endParaRPr lang="en-IN" dirty="0"/>
          </a:p>
          <a:p>
            <a:pPr lvl="0"/>
            <a:r>
              <a:rPr lang="en-IN" b="1" dirty="0"/>
              <a:t>13 attributes</a:t>
            </a:r>
            <a:endParaRPr lang="en-IN" dirty="0"/>
          </a:p>
          <a:p>
            <a:pPr lvl="0"/>
            <a:r>
              <a:rPr lang="en-IN" dirty="0"/>
              <a:t>Numerical and categorical variables</a:t>
            </a:r>
          </a:p>
          <a:p>
            <a:pPr lvl="0"/>
            <a:r>
              <a:rPr lang="en-IN" dirty="0" err="1"/>
              <a:t>Loan_Status</a:t>
            </a:r>
            <a:r>
              <a:rPr lang="en-IN" dirty="0"/>
              <a:t> used as the target variable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EA3CD-199D-E99B-7293-85DBD4F2F592}"/>
              </a:ext>
            </a:extLst>
          </p:cNvPr>
          <p:cNvSpPr txBox="1"/>
          <p:nvPr/>
        </p:nvSpPr>
        <p:spPr>
          <a:xfrm>
            <a:off x="452284" y="4758813"/>
            <a:ext cx="280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Displaying first five rows</a:t>
            </a:r>
            <a:r>
              <a:rPr lang="en-IN" b="1" dirty="0">
                <a:solidFill>
                  <a:srgbClr val="002060"/>
                </a:solidFill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05E6DC-A1A3-B161-71A7-F947AB275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24" y="5128145"/>
            <a:ext cx="10455546" cy="1548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9B8115-76C9-0B94-D4ED-51E4855774E4}"/>
              </a:ext>
            </a:extLst>
          </p:cNvPr>
          <p:cNvSpPr txBox="1"/>
          <p:nvPr/>
        </p:nvSpPr>
        <p:spPr>
          <a:xfrm>
            <a:off x="8052620" y="736141"/>
            <a:ext cx="224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Dataset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Information</a:t>
            </a:r>
            <a:r>
              <a:rPr lang="en-IN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077299-E37A-6FA7-E39C-178CC421D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975" y="1117140"/>
            <a:ext cx="3594741" cy="384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8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080BDF-ECE1-4945-7EF4-BB8F553B3FD1}"/>
              </a:ext>
            </a:extLst>
          </p:cNvPr>
          <p:cNvSpPr txBox="1"/>
          <p:nvPr/>
        </p:nvSpPr>
        <p:spPr>
          <a:xfrm>
            <a:off x="4438395" y="227720"/>
            <a:ext cx="3932237" cy="384337"/>
          </a:xfrm>
          <a:prstGeom prst="rect">
            <a:avLst/>
          </a:prstGeom>
        </p:spPr>
        <p:txBody>
          <a:bodyPr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  <a:latin typeface="Amasis MT Pro Black" panose="02040A04050005020304" pitchFamily="18" charset="0"/>
                <a:ea typeface="+mj-ea"/>
                <a:cs typeface="+mj-cs"/>
              </a:rPr>
              <a:t>Missing Value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BAA0B-9D50-2C0C-85A3-C45BDCC87966}"/>
              </a:ext>
            </a:extLst>
          </p:cNvPr>
          <p:cNvSpPr txBox="1"/>
          <p:nvPr/>
        </p:nvSpPr>
        <p:spPr>
          <a:xfrm>
            <a:off x="698090" y="1012722"/>
            <a:ext cx="4853758" cy="295951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Missing values were identified before performing further analysis.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kern="12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Missing Values Found In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-Gender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-Married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-Dependents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Self_Employed</a:t>
            </a:r>
            <a:endParaRPr lang="en-US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LoanAmount</a:t>
            </a:r>
            <a:endParaRPr lang="en-US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Loan_Amount_Term</a:t>
            </a:r>
            <a:endParaRPr lang="en-US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-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Credit_History</a:t>
            </a:r>
            <a:endParaRPr lang="en-US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kern="12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Duplicate Check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Duplicate records were checked using duplicated().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No duplicate rows were found.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BFF780-9502-D293-2533-694206F22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61680"/>
              </p:ext>
            </p:extLst>
          </p:nvPr>
        </p:nvGraphicFramePr>
        <p:xfrm>
          <a:off x="6661436" y="1506012"/>
          <a:ext cx="5005845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96">
                  <a:extLst>
                    <a:ext uri="{9D8B030D-6E8A-4147-A177-3AD203B41FA5}">
                      <a16:colId xmlns:a16="http://schemas.microsoft.com/office/drawing/2014/main" val="1411609696"/>
                    </a:ext>
                  </a:extLst>
                </a:gridCol>
                <a:gridCol w="2125449">
                  <a:extLst>
                    <a:ext uri="{9D8B030D-6E8A-4147-A177-3AD203B41FA5}">
                      <a16:colId xmlns:a16="http://schemas.microsoft.com/office/drawing/2014/main" val="534329146"/>
                    </a:ext>
                  </a:extLst>
                </a:gridCol>
              </a:tblGrid>
              <a:tr h="48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dirty="0"/>
                        <a:t>Variable Type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Method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896583549"/>
                  </a:ext>
                </a:extLst>
              </a:tr>
              <a:tr h="48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Categorical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Mode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41096112"/>
                  </a:ext>
                </a:extLst>
              </a:tr>
              <a:tr h="48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Numerical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dirty="0"/>
                        <a:t>Median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51346883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DF7569D-D5AE-4852-AB37-AAF026836E9C}"/>
              </a:ext>
            </a:extLst>
          </p:cNvPr>
          <p:cNvSpPr txBox="1"/>
          <p:nvPr/>
        </p:nvSpPr>
        <p:spPr>
          <a:xfrm>
            <a:off x="6640154" y="1012722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Handling Strategy</a:t>
            </a:r>
            <a:r>
              <a:rPr lang="en-IN" b="1" dirty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9580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01BB-CD27-B5B3-9DE7-9EE09F622146}"/>
              </a:ext>
            </a:extLst>
          </p:cNvPr>
          <p:cNvSpPr txBox="1"/>
          <p:nvPr/>
        </p:nvSpPr>
        <p:spPr>
          <a:xfrm>
            <a:off x="4143737" y="196769"/>
            <a:ext cx="4307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Exploratory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7B35D-7820-CAFF-FED9-E03548CA973D}"/>
              </a:ext>
            </a:extLst>
          </p:cNvPr>
          <p:cNvSpPr txBox="1"/>
          <p:nvPr/>
        </p:nvSpPr>
        <p:spPr>
          <a:xfrm>
            <a:off x="377459" y="2386663"/>
            <a:ext cx="55172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</a:rPr>
              <a:t>The analysis focused on:</a:t>
            </a:r>
          </a:p>
          <a:p>
            <a:pPr lvl="0"/>
            <a:r>
              <a:rPr lang="en-IN" dirty="0"/>
              <a:t> -Distribution of loan approval status among   applicants.</a:t>
            </a:r>
          </a:p>
          <a:p>
            <a:pPr lvl="0"/>
            <a:r>
              <a:rPr lang="en-IN" dirty="0"/>
              <a:t>-Distribution of applicants based on gender and education.</a:t>
            </a:r>
          </a:p>
          <a:p>
            <a:pPr lvl="0"/>
            <a:r>
              <a:rPr lang="en-IN" dirty="0"/>
              <a:t>-Distribution of applicants across different property areas.</a:t>
            </a:r>
          </a:p>
          <a:p>
            <a:pPr lvl="0"/>
            <a:r>
              <a:rPr lang="en-IN" dirty="0"/>
              <a:t>-Distribution of applicant income and loan amount.</a:t>
            </a:r>
          </a:p>
          <a:p>
            <a:pPr lvl="0"/>
            <a:r>
              <a:rPr lang="en-IN" dirty="0"/>
              <a:t>-Relationship between credit history and loan approval.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1C521-1070-8E7D-98CA-B89A47F0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75" y="778813"/>
            <a:ext cx="5165258" cy="2774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AB3ABA-1413-F46F-76B2-01C6E9BC2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83" y="3673807"/>
            <a:ext cx="4919241" cy="27746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A59E43-62A5-B7B2-5DDB-04AA4BC17DC8}"/>
              </a:ext>
            </a:extLst>
          </p:cNvPr>
          <p:cNvSpPr txBox="1"/>
          <p:nvPr/>
        </p:nvSpPr>
        <p:spPr>
          <a:xfrm>
            <a:off x="361468" y="824185"/>
            <a:ext cx="2859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Exploratory Data Analysis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6AB71-8599-89EF-D9B5-2183F92342A0}"/>
              </a:ext>
            </a:extLst>
          </p:cNvPr>
          <p:cNvSpPr txBox="1"/>
          <p:nvPr/>
        </p:nvSpPr>
        <p:spPr>
          <a:xfrm>
            <a:off x="377459" y="1147350"/>
            <a:ext cx="5718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Exploratory Data Analysis was performed to understand the overall characteristics of the loan application dataset. Both categorical and numerical variables were examined before applying machine learning techniques.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ED9CE-0150-FC6F-E03A-FCFAFB0C34E1}"/>
              </a:ext>
            </a:extLst>
          </p:cNvPr>
          <p:cNvSpPr txBox="1"/>
          <p:nvPr/>
        </p:nvSpPr>
        <p:spPr>
          <a:xfrm>
            <a:off x="361468" y="5380672"/>
            <a:ext cx="5162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EDA helped us understand the structure of the data and identify patterns that could be considered during further processing and prediction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81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312D75-377F-7854-7226-979BCD16E548}"/>
              </a:ext>
            </a:extLst>
          </p:cNvPr>
          <p:cNvSpPr txBox="1"/>
          <p:nvPr/>
        </p:nvSpPr>
        <p:spPr>
          <a:xfrm>
            <a:off x="4540893" y="162046"/>
            <a:ext cx="3110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Data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2EBF4-C339-57A7-E9FA-F038F2F6849E}"/>
              </a:ext>
            </a:extLst>
          </p:cNvPr>
          <p:cNvSpPr txBox="1"/>
          <p:nvPr/>
        </p:nvSpPr>
        <p:spPr>
          <a:xfrm>
            <a:off x="2361235" y="551773"/>
            <a:ext cx="786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solidFill>
                  <a:srgbClr val="0070C0"/>
                </a:solidFill>
              </a:rPr>
              <a:t>The project uses Matplotlib to visualize numerical variables and relationships.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3576E9-F310-CA40-9B2A-7E564ED0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6" y="973170"/>
            <a:ext cx="4443642" cy="2360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C1D812-2958-CD40-043D-9B5C0C749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109" y="967271"/>
            <a:ext cx="4355441" cy="2415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DB4F9D-364C-EC54-3926-9B23F896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3" t="-12287" r="-503" b="8724"/>
          <a:stretch>
            <a:fillRect/>
          </a:stretch>
        </p:blipFill>
        <p:spPr>
          <a:xfrm>
            <a:off x="591346" y="3382833"/>
            <a:ext cx="5120480" cy="2475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B742F7-D0B4-501D-D9CE-BF76763998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2926" b="7721"/>
          <a:stretch>
            <a:fillRect/>
          </a:stretch>
        </p:blipFill>
        <p:spPr>
          <a:xfrm>
            <a:off x="6574914" y="3225586"/>
            <a:ext cx="4771636" cy="2789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E14100-BF25-A374-0905-2EFD8F25A78A}"/>
              </a:ext>
            </a:extLst>
          </p:cNvPr>
          <p:cNvSpPr txBox="1"/>
          <p:nvPr/>
        </p:nvSpPr>
        <p:spPr>
          <a:xfrm>
            <a:off x="445255" y="5936895"/>
            <a:ext cx="1115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EDA was performed to understand the distribution of applicant characteristics and loan approval outcomes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014902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925D-C135-3783-9064-C7A1E0BE4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099" y="133633"/>
            <a:ext cx="3444433" cy="315912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Categorical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3890-8140-DDE1-EBEB-81182D10BBBD}"/>
              </a:ext>
            </a:extLst>
          </p:cNvPr>
          <p:cNvSpPr txBox="1"/>
          <p:nvPr/>
        </p:nvSpPr>
        <p:spPr>
          <a:xfrm>
            <a:off x="474562" y="1284790"/>
            <a:ext cx="61808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Analysis of Categorical Variables</a:t>
            </a:r>
          </a:p>
          <a:p>
            <a:r>
              <a:rPr lang="en-IN" dirty="0"/>
              <a:t>Categorical variables were </a:t>
            </a:r>
            <a:r>
              <a:rPr lang="en-IN" dirty="0" err="1"/>
              <a:t>analyzed</a:t>
            </a:r>
            <a:r>
              <a:rPr lang="en-IN" dirty="0"/>
              <a:t> to understand how applicant characteristics were associated with loan approval status.</a:t>
            </a:r>
          </a:p>
          <a:p>
            <a:r>
              <a:rPr lang="en-IN" b="1" dirty="0">
                <a:solidFill>
                  <a:srgbClr val="00B050"/>
                </a:solidFill>
              </a:rPr>
              <a:t>Credit History vs Loan Status</a:t>
            </a:r>
            <a:endParaRPr lang="en-IN" dirty="0">
              <a:solidFill>
                <a:srgbClr val="00B050"/>
              </a:solidFill>
            </a:endParaRPr>
          </a:p>
          <a:p>
            <a:pPr lvl="0"/>
            <a:r>
              <a:rPr lang="en-IN" dirty="0"/>
              <a:t>Credit history was compared with loan approval status to observe approval patterns.</a:t>
            </a:r>
          </a:p>
          <a:p>
            <a:r>
              <a:rPr lang="en-IN" b="1" dirty="0">
                <a:solidFill>
                  <a:srgbClr val="00B050"/>
                </a:solidFill>
              </a:rPr>
              <a:t>Education vs Loan Status</a:t>
            </a:r>
            <a:endParaRPr lang="en-IN" dirty="0">
              <a:solidFill>
                <a:srgbClr val="00B050"/>
              </a:solidFill>
            </a:endParaRPr>
          </a:p>
          <a:p>
            <a:pPr lvl="0"/>
            <a:r>
              <a:rPr lang="en-IN" dirty="0"/>
              <a:t>Loan approval status was compared across education categories.</a:t>
            </a:r>
          </a:p>
          <a:p>
            <a:r>
              <a:rPr lang="en-IN" b="1" dirty="0">
                <a:solidFill>
                  <a:srgbClr val="00B050"/>
                </a:solidFill>
              </a:rPr>
              <a:t>Property Area vs Loan Status</a:t>
            </a:r>
            <a:endParaRPr lang="en-IN" dirty="0">
              <a:solidFill>
                <a:srgbClr val="00B050"/>
              </a:solidFill>
            </a:endParaRPr>
          </a:p>
          <a:p>
            <a:pPr lvl="0"/>
            <a:r>
              <a:rPr lang="en-IN" dirty="0"/>
              <a:t>Loan approval status was </a:t>
            </a:r>
            <a:r>
              <a:rPr lang="en-IN" dirty="0" err="1"/>
              <a:t>analyzed</a:t>
            </a:r>
            <a:r>
              <a:rPr lang="en-IN" dirty="0"/>
              <a:t> across rural, semiurban and urban property areas.</a:t>
            </a:r>
          </a:p>
          <a:p>
            <a:r>
              <a:rPr lang="en-IN" dirty="0"/>
              <a:t>These comparisons provide an understanding of how different applicant characteristics are distributed with respect to loan approval.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35B71-68D7-EF2E-0345-CCA902C7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420" y="710683"/>
            <a:ext cx="5496973" cy="3496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C5D216-4C82-4489-B392-A21BFA36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921" y="4356708"/>
            <a:ext cx="4625188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31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C363-F60D-3EB7-EDCB-C5F56FDF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114" y="122056"/>
            <a:ext cx="6754792" cy="410379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Data Transformation and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28E7A-A0C0-B09E-F3F3-FBDBF6CB7E5D}"/>
              </a:ext>
            </a:extLst>
          </p:cNvPr>
          <p:cNvSpPr txBox="1"/>
          <p:nvPr/>
        </p:nvSpPr>
        <p:spPr>
          <a:xfrm>
            <a:off x="596169" y="769716"/>
            <a:ext cx="232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0070C0"/>
                </a:solidFill>
              </a:rPr>
              <a:t>Data Transformation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E3C75-3ABA-A599-6A0E-9AB0078F3A88}"/>
              </a:ext>
            </a:extLst>
          </p:cNvPr>
          <p:cNvSpPr txBox="1"/>
          <p:nvPr/>
        </p:nvSpPr>
        <p:spPr>
          <a:xfrm>
            <a:off x="551635" y="4048430"/>
            <a:ext cx="102938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One-Hot Encoding was applied to:</a:t>
            </a:r>
            <a:endParaRPr lang="en-IN" dirty="0">
              <a:solidFill>
                <a:srgbClr val="0070C0"/>
              </a:solidFill>
            </a:endParaRPr>
          </a:p>
          <a:p>
            <a:pPr lvl="0"/>
            <a:r>
              <a:rPr lang="en-IN" dirty="0"/>
              <a:t>-</a:t>
            </a:r>
            <a:r>
              <a:rPr lang="en-IN" dirty="0" err="1"/>
              <a:t>Property_Area</a:t>
            </a:r>
            <a:endParaRPr lang="en-IN" dirty="0"/>
          </a:p>
          <a:p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This creates separate binary columns for the property-area categories while avoiding unnecessary duplication using </a:t>
            </a:r>
            <a:r>
              <a:rPr lang="en-IN" i="1" dirty="0" err="1">
                <a:solidFill>
                  <a:schemeClr val="accent1">
                    <a:lumMod val="50000"/>
                  </a:schemeClr>
                </a:solidFill>
              </a:rPr>
              <a:t>drop_first</a:t>
            </a:r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=True.</a:t>
            </a:r>
          </a:p>
          <a:p>
            <a:r>
              <a:rPr lang="en-IN" b="1" dirty="0">
                <a:solidFill>
                  <a:srgbClr val="0070C0"/>
                </a:solidFill>
              </a:rPr>
              <a:t>Additional Processing</a:t>
            </a:r>
          </a:p>
          <a:p>
            <a:pPr lvl="0"/>
            <a:r>
              <a:rPr lang="en-IN" dirty="0" err="1"/>
              <a:t>Loan_ID</a:t>
            </a:r>
            <a:r>
              <a:rPr lang="en-IN" dirty="0"/>
              <a:t> was removed because it is an identifier and does not provide useful predictive information.</a:t>
            </a:r>
          </a:p>
          <a:p>
            <a:pPr lvl="0"/>
            <a:r>
              <a:rPr lang="en-IN" dirty="0"/>
              <a:t>Boolean values generated during encoding were converted into integers.</a:t>
            </a:r>
          </a:p>
          <a:p>
            <a:pPr lvl="0"/>
            <a:r>
              <a:rPr lang="en-IN" dirty="0"/>
              <a:t>Dependents was converted into numerical form.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564E5-8D77-9267-3F0C-22B14F11072D}"/>
              </a:ext>
            </a:extLst>
          </p:cNvPr>
          <p:cNvSpPr txBox="1"/>
          <p:nvPr/>
        </p:nvSpPr>
        <p:spPr>
          <a:xfrm>
            <a:off x="584594" y="1081174"/>
            <a:ext cx="5810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 applying the prediction model, categorical variables were converted into numerical form.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382EF-4BEF-C74E-1049-28C583C0F252}"/>
              </a:ext>
            </a:extLst>
          </p:cNvPr>
          <p:cNvSpPr txBox="1"/>
          <p:nvPr/>
        </p:nvSpPr>
        <p:spPr>
          <a:xfrm>
            <a:off x="584594" y="1724595"/>
            <a:ext cx="3418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Label Encoding was applied to: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9BC0F-2B63-1BE9-2A10-38AEA2ACD46F}"/>
              </a:ext>
            </a:extLst>
          </p:cNvPr>
          <p:cNvSpPr txBox="1"/>
          <p:nvPr/>
        </p:nvSpPr>
        <p:spPr>
          <a:xfrm>
            <a:off x="551635" y="2004504"/>
            <a:ext cx="17420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/>
              <a:t>-Gender</a:t>
            </a:r>
          </a:p>
          <a:p>
            <a:pPr lvl="0"/>
            <a:r>
              <a:rPr lang="en-IN"/>
              <a:t>-Married</a:t>
            </a:r>
          </a:p>
          <a:p>
            <a:pPr lvl="0"/>
            <a:r>
              <a:rPr lang="en-IN"/>
              <a:t>-Education</a:t>
            </a:r>
          </a:p>
          <a:p>
            <a:pPr lvl="0"/>
            <a:r>
              <a:rPr lang="en-IN"/>
              <a:t>-Self_Employed</a:t>
            </a:r>
          </a:p>
          <a:p>
            <a:pPr lvl="0"/>
            <a:r>
              <a:rPr lang="en-IN"/>
              <a:t>-Loan_Status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5C437-4A6D-ED6C-CF5B-CC1654F7F6F0}"/>
              </a:ext>
            </a:extLst>
          </p:cNvPr>
          <p:cNvSpPr txBox="1"/>
          <p:nvPr/>
        </p:nvSpPr>
        <p:spPr>
          <a:xfrm>
            <a:off x="551635" y="3435664"/>
            <a:ext cx="10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Label Encoding converts categorical values into numerical labels so that they can be processed by the machine learning model.</a:t>
            </a:r>
          </a:p>
        </p:txBody>
      </p:sp>
    </p:spTree>
    <p:extLst>
      <p:ext uri="{BB962C8B-B14F-4D97-AF65-F5344CB8AC3E}">
        <p14:creationId xmlns:p14="http://schemas.microsoft.com/office/powerpoint/2010/main" val="46128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A3412-0BB1-DF37-D8F9-5EF744F189EB}"/>
              </a:ext>
            </a:extLst>
          </p:cNvPr>
          <p:cNvSpPr txBox="1"/>
          <p:nvPr/>
        </p:nvSpPr>
        <p:spPr>
          <a:xfrm>
            <a:off x="685801" y="1020852"/>
            <a:ext cx="609407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B050"/>
                </a:solidFill>
              </a:rPr>
              <a:t>Numerical Data Processing</a:t>
            </a:r>
          </a:p>
          <a:p>
            <a:pPr>
              <a:buNone/>
            </a:pPr>
            <a:r>
              <a:rPr lang="en-IN" dirty="0"/>
              <a:t>Numerical variables have different ranges. Therefore, scaling and standardization techniques were applied.</a:t>
            </a:r>
          </a:p>
          <a:p>
            <a:pPr>
              <a:buNone/>
            </a:pPr>
            <a:r>
              <a:rPr lang="en-IN" b="1" dirty="0">
                <a:solidFill>
                  <a:srgbClr val="00B050"/>
                </a:solidFill>
              </a:rPr>
              <a:t>Min-Max Scaling</a:t>
            </a:r>
            <a:endParaRPr lang="en-IN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IN" dirty="0"/>
              <a:t>Applied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ApplicantIncome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CoapplicantIncome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LoanAmount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Loan_Amount_Term</a:t>
            </a:r>
            <a:endParaRPr lang="en-IN" dirty="0"/>
          </a:p>
          <a:p>
            <a:pPr>
              <a:buNone/>
            </a:pPr>
            <a:r>
              <a:rPr lang="en-IN" i="1" dirty="0"/>
              <a:t>Min-Max Scaling transforms values into a common range.</a:t>
            </a:r>
          </a:p>
          <a:p>
            <a:pPr>
              <a:buNone/>
            </a:pPr>
            <a:r>
              <a:rPr lang="en-IN" b="1" dirty="0">
                <a:solidFill>
                  <a:srgbClr val="00B050"/>
                </a:solidFill>
              </a:rPr>
              <a:t>Standardization</a:t>
            </a:r>
            <a:endParaRPr lang="en-IN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IN" dirty="0" err="1">
                <a:latin typeface="+mn-lt"/>
              </a:rPr>
              <a:t>StandardScaler</a:t>
            </a:r>
            <a:r>
              <a:rPr lang="en-IN" dirty="0"/>
              <a:t> was applied to the same numerical variables to transform them based on their mean and standard deviation.</a:t>
            </a:r>
          </a:p>
          <a:p>
            <a:pPr>
              <a:buNone/>
            </a:pPr>
            <a:r>
              <a:rPr lang="en-IN" b="1" dirty="0">
                <a:solidFill>
                  <a:srgbClr val="00B050"/>
                </a:solidFill>
              </a:rPr>
              <a:t>Correlation Analysis</a:t>
            </a:r>
          </a:p>
          <a:p>
            <a:pPr>
              <a:buNone/>
            </a:pPr>
            <a:r>
              <a:rPr lang="en-IN" dirty="0"/>
              <a:t>A correlation matrix was generated to examine relationships between the processed variables.</a:t>
            </a:r>
          </a:p>
          <a:p>
            <a:pPr>
              <a:buNone/>
            </a:pPr>
            <a:r>
              <a:rPr lang="en-IN" dirty="0"/>
              <a:t>Correlation analysis helps understand how variables are related and supports further feature analysis before modelling.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EC3A2-EF69-5CDA-A41E-4F358593DFA4}"/>
              </a:ext>
            </a:extLst>
          </p:cNvPr>
          <p:cNvSpPr txBox="1"/>
          <p:nvPr/>
        </p:nvSpPr>
        <p:spPr>
          <a:xfrm>
            <a:off x="2720051" y="335666"/>
            <a:ext cx="7826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masis MT Pro Black" panose="02040A04050005020304" pitchFamily="18" charset="0"/>
              </a:rPr>
              <a:t>Feature Scaling, Standardization and Correlation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CB6B71-B852-F2D7-3AAE-58A550E0C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399" y="884141"/>
            <a:ext cx="4754755" cy="3618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E4EF5F-918E-EDD1-B70F-1BCC49A2A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178" y="4502552"/>
            <a:ext cx="2949196" cy="193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82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577243-76A9-3A48-CE22-77D89F2A68BE}"/>
              </a:ext>
            </a:extLst>
          </p:cNvPr>
          <p:cNvSpPr txBox="1"/>
          <p:nvPr/>
        </p:nvSpPr>
        <p:spPr>
          <a:xfrm>
            <a:off x="311652" y="1028343"/>
            <a:ext cx="70142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Loan Approval Prediction</a:t>
            </a:r>
          </a:p>
          <a:p>
            <a:r>
              <a:rPr lang="en-IN" dirty="0"/>
              <a:t>After preprocessing and feature selection, </a:t>
            </a:r>
            <a:r>
              <a:rPr lang="en-IN" b="1" dirty="0"/>
              <a:t>Logistic Regression</a:t>
            </a:r>
            <a:r>
              <a:rPr lang="en-IN" dirty="0"/>
              <a:t> was used to perform basic loan approval prediction.</a:t>
            </a:r>
          </a:p>
          <a:p>
            <a:r>
              <a:rPr lang="en-IN" dirty="0"/>
              <a:t>The dataset was divided into:</a:t>
            </a:r>
          </a:p>
          <a:p>
            <a:pPr lvl="0"/>
            <a:r>
              <a:rPr lang="en-IN" b="1" dirty="0"/>
              <a:t>80% Training Data</a:t>
            </a:r>
            <a:endParaRPr lang="en-IN" dirty="0"/>
          </a:p>
          <a:p>
            <a:pPr lvl="0"/>
            <a:r>
              <a:rPr lang="en-IN" b="1" dirty="0"/>
              <a:t>20% Testing Data</a:t>
            </a:r>
            <a:endParaRPr lang="en-IN" dirty="0"/>
          </a:p>
          <a:p>
            <a:r>
              <a:rPr lang="en-IN" i="1" dirty="0">
                <a:solidFill>
                  <a:schemeClr val="accent3">
                    <a:lumMod val="75000"/>
                  </a:schemeClr>
                </a:solidFill>
              </a:rPr>
              <a:t>The trained model was then used to predict loan approval status for the test data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rgbClr val="0070C0"/>
                </a:solidFill>
              </a:rPr>
              <a:t>Model Evaluation</a:t>
            </a:r>
          </a:p>
          <a:p>
            <a:r>
              <a:rPr lang="en-IN" dirty="0"/>
              <a:t>The model was evaluated using:</a:t>
            </a:r>
          </a:p>
          <a:p>
            <a:pPr lvl="0"/>
            <a:r>
              <a:rPr lang="en-IN" dirty="0"/>
              <a:t>-Accuracy</a:t>
            </a:r>
          </a:p>
          <a:p>
            <a:pPr lvl="0"/>
            <a:r>
              <a:rPr lang="en-IN" dirty="0"/>
              <a:t>-Classification Report</a:t>
            </a:r>
          </a:p>
          <a:p>
            <a:pPr lvl="0"/>
            <a:r>
              <a:rPr lang="en-IN" dirty="0"/>
              <a:t>-Confusion Matrix</a:t>
            </a:r>
          </a:p>
          <a:p>
            <a:pPr lvl="0"/>
            <a:r>
              <a:rPr lang="en-IN" dirty="0"/>
              <a:t>-Logistic Regression Feature Coefficients</a:t>
            </a:r>
          </a:p>
          <a:p>
            <a:r>
              <a:rPr lang="en-IN" i="1" dirty="0">
                <a:solidFill>
                  <a:schemeClr val="accent3">
                    <a:lumMod val="75000"/>
                  </a:schemeClr>
                </a:solidFill>
              </a:rPr>
              <a:t>The confusion matrix provides a comparison between the actual and predicted loan approval classes.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520A3-2919-9FD3-EFCD-58611D22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912" y="702448"/>
            <a:ext cx="4414676" cy="3487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20D429-EC48-3A43-734E-13031FD11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266" y="4190035"/>
            <a:ext cx="3793175" cy="20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73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1A59D1-59D7-6820-AE15-CFCB1AEEAC1E}"/>
              </a:ext>
            </a:extLst>
          </p:cNvPr>
          <p:cNvSpPr txBox="1"/>
          <p:nvPr/>
        </p:nvSpPr>
        <p:spPr>
          <a:xfrm>
            <a:off x="1365813" y="4531489"/>
            <a:ext cx="9598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latin typeface="Aptos Slab SemiBold" panose="020B0004020202020204" pitchFamily="34" charset="0"/>
              </a:rPr>
              <a:t>-Compare multiple machine learning models.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-Apply advanced feature selection and hyperparameter tuning.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-Add more model evaluation metrics.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-Develop an interactive loan prediction interface.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-Deploy the system as a web-based application.</a:t>
            </a:r>
          </a:p>
          <a:p>
            <a:endParaRPr lang="en-IN" dirty="0">
              <a:latin typeface="Aptos Slab SemiBold" panose="020B00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3D747BC-E9E5-2EC9-86EE-773592140917}"/>
              </a:ext>
            </a:extLst>
          </p:cNvPr>
          <p:cNvSpPr/>
          <p:nvPr/>
        </p:nvSpPr>
        <p:spPr>
          <a:xfrm>
            <a:off x="1203767" y="892309"/>
            <a:ext cx="300942" cy="266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CDE97-BF72-7419-EBE3-D970DF254A23}"/>
              </a:ext>
            </a:extLst>
          </p:cNvPr>
          <p:cNvSpPr txBox="1"/>
          <p:nvPr/>
        </p:nvSpPr>
        <p:spPr>
          <a:xfrm>
            <a:off x="1504709" y="840752"/>
            <a:ext cx="1663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5349D-CB0D-0C47-C7E1-7E1905EB9CCF}"/>
              </a:ext>
            </a:extLst>
          </p:cNvPr>
          <p:cNvSpPr txBox="1"/>
          <p:nvPr/>
        </p:nvSpPr>
        <p:spPr>
          <a:xfrm>
            <a:off x="1354238" y="1352153"/>
            <a:ext cx="97343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latin typeface="Aptos Slab SemiBold" panose="020B0004020202020204" pitchFamily="34" charset="0"/>
              </a:rPr>
              <a:t>-Successfully loaded and explored the loan dataset using Pandas.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-Identified and handled missing values and duplicate records.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-Applied Label Encoding and One-Hot Encoding to categorical data.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-Applied Feature Scaling and Standardization to numerical features.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-Performed EDA and visualization to identify important patterns.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-Used correlation analysis and feature selection to prepare the data.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-Applied Logistic Regression for basic loan approval prediction.</a:t>
            </a:r>
          </a:p>
          <a:p>
            <a:pPr lvl="0"/>
            <a:r>
              <a:rPr lang="en-IN" dirty="0">
                <a:latin typeface="Aptos Slab SemiBold" panose="020B0004020202020204" pitchFamily="34" charset="0"/>
              </a:rPr>
              <a:t>-Evaluated the model using accuracy, classification report, and confusion matrix.</a:t>
            </a:r>
          </a:p>
          <a:p>
            <a:endParaRPr lang="en-IN" dirty="0">
              <a:latin typeface="Aptos Slab SemiBold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EA74C-D36A-B98F-312A-0B4A964BAB2A}"/>
              </a:ext>
            </a:extLst>
          </p:cNvPr>
          <p:cNvSpPr txBox="1"/>
          <p:nvPr/>
        </p:nvSpPr>
        <p:spPr>
          <a:xfrm>
            <a:off x="1458410" y="3941045"/>
            <a:ext cx="2886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FUTURE ENHANCEMENTS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82B64DE-822F-9EDF-13E3-DAC9456DFD6B}"/>
              </a:ext>
            </a:extLst>
          </p:cNvPr>
          <p:cNvSpPr/>
          <p:nvPr/>
        </p:nvSpPr>
        <p:spPr>
          <a:xfrm>
            <a:off x="1203767" y="3997993"/>
            <a:ext cx="300942" cy="266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76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F86A-10DC-74E7-A054-884CA26CBCD2}"/>
              </a:ext>
            </a:extLst>
          </p:cNvPr>
          <p:cNvSpPr txBox="1"/>
          <p:nvPr/>
        </p:nvSpPr>
        <p:spPr>
          <a:xfrm>
            <a:off x="4543748" y="3105834"/>
            <a:ext cx="3104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tx2"/>
                </a:solidFill>
                <a:latin typeface="Amasis MT Pro Black" panose="02040A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IN" sz="3600" b="1">
              <a:solidFill>
                <a:schemeClr val="tx2"/>
              </a:solidFill>
              <a:latin typeface="Amasis MT Pro Black" panose="02040A04050005020304" pitchFamily="18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93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1362</Words>
  <Application>Microsoft Office PowerPoint</Application>
  <PresentationFormat>Widescreen</PresentationFormat>
  <Paragraphs>238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Abadi</vt:lpstr>
      <vt:lpstr>ADLaM Display</vt:lpstr>
      <vt:lpstr>Amasis MT Pro Black</vt:lpstr>
      <vt:lpstr>Amasis MT Pro Medium</vt:lpstr>
      <vt:lpstr>Aptos</vt:lpstr>
      <vt:lpstr>Aptos Display</vt:lpstr>
      <vt:lpstr>Aptos Slab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exploration</vt:lpstr>
      <vt:lpstr>PowerPoint Presentation</vt:lpstr>
      <vt:lpstr>PowerPoint Presentation</vt:lpstr>
      <vt:lpstr>PowerPoint Presentation</vt:lpstr>
      <vt:lpstr>Categorical analysis </vt:lpstr>
      <vt:lpstr>Data Transformation and Preprocessing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Ramoju</dc:creator>
  <cp:lastModifiedBy>Thanuja Santha</cp:lastModifiedBy>
  <cp:revision>10</cp:revision>
  <dcterms:created xsi:type="dcterms:W3CDTF">2026-08-06T17:20:11Z</dcterms:created>
  <dcterms:modified xsi:type="dcterms:W3CDTF">2026-09-30T05:00:09Z</dcterms:modified>
</cp:coreProperties>
</file>